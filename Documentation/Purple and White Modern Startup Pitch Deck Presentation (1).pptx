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 Medium" charset="1" panose="00000600000000000000"/>
      <p:regular r:id="rId16"/>
    </p:embeddedFont>
    <p:embeddedFont>
      <p:font typeface="Open Sans" charset="1" panose="00000000000000000000"/>
      <p:regular r:id="rId17"/>
    </p:embeddedFont>
    <p:embeddedFont>
      <p:font typeface="Open Sauce" charset="1" panose="00000500000000000000"/>
      <p:regular r:id="rId18"/>
    </p:embeddedFont>
    <p:embeddedFont>
      <p:font typeface="Canva Sans Bold" charset="1" panose="020B0803030501040103"/>
      <p:regular r:id="rId19"/>
    </p:embeddedFont>
    <p:embeddedFont>
      <p:font typeface="Open Sauce Bold" charset="1" panose="00000800000000000000"/>
      <p:regular r:id="rId20"/>
    </p:embeddedFont>
    <p:embeddedFont>
      <p:font typeface="Canva Sans" charset="1" panose="020B0503030501040103"/>
      <p:regular r:id="rId21"/>
    </p:embeddedFont>
    <p:embeddedFont>
      <p:font typeface="Bricolage Grotesque" charset="1" panose="020B0605040402000204"/>
      <p:regular r:id="rId22"/>
    </p:embeddedFont>
    <p:embeddedFont>
      <p:font typeface="Bricolage Grotesque Bold" charset="1" panose="020B0605040402000204"/>
      <p:regular r:id="rId23"/>
    </p:embeddedFont>
    <p:embeddedFont>
      <p:font typeface="Aileron Italic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2" t="-293" r="-465" b="-198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1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93450" y="-924675"/>
            <a:ext cx="18674901" cy="7378284"/>
            <a:chOff x="0" y="0"/>
            <a:chExt cx="24899868" cy="98377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400751" y="6196434"/>
            <a:ext cx="7337388" cy="3694620"/>
            <a:chOff x="0" y="0"/>
            <a:chExt cx="1136753" cy="5723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6753" cy="572393"/>
            </a:xfrm>
            <a:custGeom>
              <a:avLst/>
              <a:gdLst/>
              <a:ahLst/>
              <a:cxnLst/>
              <a:rect r="r" b="b" t="t" l="l"/>
              <a:pathLst>
                <a:path h="572393" w="1136753">
                  <a:moveTo>
                    <a:pt x="37985" y="0"/>
                  </a:moveTo>
                  <a:lnTo>
                    <a:pt x="1098769" y="0"/>
                  </a:lnTo>
                  <a:cubicBezTo>
                    <a:pt x="1119747" y="0"/>
                    <a:pt x="1136753" y="17006"/>
                    <a:pt x="1136753" y="37985"/>
                  </a:cubicBezTo>
                  <a:lnTo>
                    <a:pt x="1136753" y="534409"/>
                  </a:lnTo>
                  <a:cubicBezTo>
                    <a:pt x="1136753" y="544483"/>
                    <a:pt x="1132751" y="554144"/>
                    <a:pt x="1125628" y="561268"/>
                  </a:cubicBezTo>
                  <a:cubicBezTo>
                    <a:pt x="1118504" y="568391"/>
                    <a:pt x="1108843" y="572393"/>
                    <a:pt x="1098769" y="572393"/>
                  </a:cubicBezTo>
                  <a:lnTo>
                    <a:pt x="37985" y="572393"/>
                  </a:lnTo>
                  <a:cubicBezTo>
                    <a:pt x="27911" y="572393"/>
                    <a:pt x="18249" y="568391"/>
                    <a:pt x="11125" y="561268"/>
                  </a:cubicBezTo>
                  <a:cubicBezTo>
                    <a:pt x="4002" y="554144"/>
                    <a:pt x="0" y="544483"/>
                    <a:pt x="0" y="534409"/>
                  </a:cubicBezTo>
                  <a:lnTo>
                    <a:pt x="0" y="37985"/>
                  </a:lnTo>
                  <a:cubicBezTo>
                    <a:pt x="0" y="17006"/>
                    <a:pt x="17006" y="0"/>
                    <a:pt x="3798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198" r="0" b="-16198"/>
              </a:stretch>
            </a:blipFill>
            <a:ln w="9525" cap="rnd">
              <a:solidFill>
                <a:srgbClr val="EFEFEF"/>
              </a:solidFill>
              <a:prstDash val="solid"/>
              <a:round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00751" y="1694078"/>
            <a:ext cx="3528272" cy="4260114"/>
            <a:chOff x="0" y="0"/>
            <a:chExt cx="627310" cy="7574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7310" cy="757427"/>
            </a:xfrm>
            <a:custGeom>
              <a:avLst/>
              <a:gdLst/>
              <a:ahLst/>
              <a:cxnLst/>
              <a:rect r="r" b="b" t="t" l="l"/>
              <a:pathLst>
                <a:path h="757427" w="627310">
                  <a:moveTo>
                    <a:pt x="78993" y="0"/>
                  </a:moveTo>
                  <a:lnTo>
                    <a:pt x="548316" y="0"/>
                  </a:lnTo>
                  <a:cubicBezTo>
                    <a:pt x="591943" y="0"/>
                    <a:pt x="627310" y="35366"/>
                    <a:pt x="627310" y="78993"/>
                  </a:cubicBezTo>
                  <a:lnTo>
                    <a:pt x="627310" y="678434"/>
                  </a:lnTo>
                  <a:cubicBezTo>
                    <a:pt x="627310" y="722061"/>
                    <a:pt x="591943" y="757427"/>
                    <a:pt x="548316" y="757427"/>
                  </a:cubicBezTo>
                  <a:lnTo>
                    <a:pt x="78993" y="757427"/>
                  </a:lnTo>
                  <a:cubicBezTo>
                    <a:pt x="35366" y="757427"/>
                    <a:pt x="0" y="722061"/>
                    <a:pt x="0" y="678434"/>
                  </a:cubicBezTo>
                  <a:lnTo>
                    <a:pt x="0" y="78993"/>
                  </a:lnTo>
                  <a:cubicBezTo>
                    <a:pt x="0" y="35366"/>
                    <a:pt x="35366" y="0"/>
                    <a:pt x="78993" y="0"/>
                  </a:cubicBezTo>
                  <a:close/>
                </a:path>
              </a:pathLst>
            </a:custGeom>
            <a:blipFill>
              <a:blip r:embed="rId3"/>
              <a:stretch>
                <a:fillRect l="-40512" t="0" r="-40512" b="0"/>
              </a:stretch>
            </a:blipFill>
            <a:ln w="9525" cap="rnd">
              <a:solidFill>
                <a:srgbClr val="EFEFEF"/>
              </a:solidFill>
              <a:prstDash val="solid"/>
              <a:round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097150" y="1704268"/>
            <a:ext cx="3640989" cy="4259450"/>
            <a:chOff x="0" y="0"/>
            <a:chExt cx="647451" cy="7574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7451" cy="757427"/>
            </a:xfrm>
            <a:custGeom>
              <a:avLst/>
              <a:gdLst/>
              <a:ahLst/>
              <a:cxnLst/>
              <a:rect r="r" b="b" t="t" l="l"/>
              <a:pathLst>
                <a:path h="757427" w="647451">
                  <a:moveTo>
                    <a:pt x="76548" y="0"/>
                  </a:moveTo>
                  <a:lnTo>
                    <a:pt x="570903" y="0"/>
                  </a:lnTo>
                  <a:cubicBezTo>
                    <a:pt x="591205" y="0"/>
                    <a:pt x="610675" y="8065"/>
                    <a:pt x="625031" y="22420"/>
                  </a:cubicBezTo>
                  <a:cubicBezTo>
                    <a:pt x="639386" y="36776"/>
                    <a:pt x="647451" y="56246"/>
                    <a:pt x="647451" y="76548"/>
                  </a:cubicBezTo>
                  <a:lnTo>
                    <a:pt x="647451" y="680880"/>
                  </a:lnTo>
                  <a:cubicBezTo>
                    <a:pt x="647451" y="701181"/>
                    <a:pt x="639386" y="720652"/>
                    <a:pt x="625031" y="735007"/>
                  </a:cubicBezTo>
                  <a:cubicBezTo>
                    <a:pt x="610675" y="749363"/>
                    <a:pt x="591205" y="757427"/>
                    <a:pt x="570903" y="757427"/>
                  </a:cubicBezTo>
                  <a:lnTo>
                    <a:pt x="76548" y="757427"/>
                  </a:lnTo>
                  <a:cubicBezTo>
                    <a:pt x="56246" y="757427"/>
                    <a:pt x="36776" y="749363"/>
                    <a:pt x="22420" y="735007"/>
                  </a:cubicBezTo>
                  <a:cubicBezTo>
                    <a:pt x="8065" y="720652"/>
                    <a:pt x="0" y="701181"/>
                    <a:pt x="0" y="680880"/>
                  </a:cubicBezTo>
                  <a:lnTo>
                    <a:pt x="0" y="76548"/>
                  </a:lnTo>
                  <a:cubicBezTo>
                    <a:pt x="0" y="56246"/>
                    <a:pt x="8065" y="36776"/>
                    <a:pt x="22420" y="22420"/>
                  </a:cubicBezTo>
                  <a:cubicBezTo>
                    <a:pt x="36776" y="8065"/>
                    <a:pt x="56246" y="0"/>
                    <a:pt x="76548" y="0"/>
                  </a:cubicBezTo>
                  <a:close/>
                </a:path>
              </a:pathLst>
            </a:custGeom>
            <a:blipFill>
              <a:blip r:embed="rId4"/>
              <a:stretch>
                <a:fillRect l="-53987" t="0" r="-53987" b="0"/>
              </a:stretch>
            </a:blipFill>
            <a:ln w="9525" cap="rnd">
              <a:solidFill>
                <a:srgbClr val="EFEFEF"/>
              </a:solidFill>
              <a:prstDash val="solid"/>
              <a:round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785623" y="480668"/>
            <a:ext cx="15147475" cy="11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b="true" sz="9600" spc="-432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The Problem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53249" y="2560154"/>
            <a:ext cx="9225735" cy="590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392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Delayed emergency response during the Golden Hour.</a:t>
            </a:r>
          </a:p>
          <a:p>
            <a:pPr algn="l">
              <a:lnSpc>
                <a:spcPts val="4298"/>
              </a:lnSpc>
            </a:pPr>
          </a:p>
          <a:p>
            <a:pPr algn="l" marL="773392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Poor coordination among ambulances, hospitals, and first responders.</a:t>
            </a:r>
          </a:p>
          <a:p>
            <a:pPr algn="l">
              <a:lnSpc>
                <a:spcPts val="4298"/>
              </a:lnSpc>
            </a:pPr>
          </a:p>
          <a:p>
            <a:pPr algn="l" marL="773392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Difficulty locating the nearest available ambulance.</a:t>
            </a:r>
          </a:p>
          <a:p>
            <a:pPr algn="l">
              <a:lnSpc>
                <a:spcPts val="4298"/>
              </a:lnSpc>
            </a:pPr>
          </a:p>
          <a:p>
            <a:pPr algn="l" marL="773392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EFEFEF"/>
                </a:solidFill>
                <a:latin typeface="Open Sans"/>
                <a:ea typeface="Open Sans"/>
                <a:cs typeface="Open Sans"/>
                <a:sym typeface="Open Sans"/>
              </a:rPr>
              <a:t>Lack of a centralized emergency communication platform.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450" y="3196155"/>
            <a:ext cx="18674901" cy="7378284"/>
            <a:chOff x="0" y="0"/>
            <a:chExt cx="24899868" cy="98377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897085" y="1927492"/>
            <a:ext cx="3845772" cy="7330808"/>
            <a:chOff x="0" y="0"/>
            <a:chExt cx="8624570" cy="164401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11480" y="269240"/>
              <a:ext cx="775335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3350">
                  <a:moveTo>
                    <a:pt x="7753350" y="791210"/>
                  </a:moveTo>
                  <a:lnTo>
                    <a:pt x="7753350" y="15116810"/>
                  </a:lnTo>
                  <a:cubicBezTo>
                    <a:pt x="7753350" y="15553690"/>
                    <a:pt x="7399020" y="15908021"/>
                    <a:pt x="696214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399020" y="0"/>
                    <a:pt x="7753350" y="353060"/>
                    <a:pt x="7753350" y="791210"/>
                  </a:cubicBezTo>
                  <a:close/>
                </a:path>
              </a:pathLst>
            </a:custGeom>
            <a:blipFill>
              <a:blip r:embed="rId2"/>
              <a:stretch>
                <a:fillRect l="-2410" t="0" r="-241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5193453" y="1927492"/>
            <a:ext cx="3845772" cy="7330808"/>
            <a:chOff x="0" y="0"/>
            <a:chExt cx="8624570" cy="164401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11480" y="269240"/>
              <a:ext cx="775335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3350">
                  <a:moveTo>
                    <a:pt x="7753350" y="791210"/>
                  </a:moveTo>
                  <a:lnTo>
                    <a:pt x="7753350" y="15116810"/>
                  </a:lnTo>
                  <a:cubicBezTo>
                    <a:pt x="7753350" y="15553690"/>
                    <a:pt x="7399020" y="15908021"/>
                    <a:pt x="696214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399020" y="0"/>
                    <a:pt x="7753350" y="353060"/>
                    <a:pt x="7753350" y="791210"/>
                  </a:cubicBezTo>
                  <a:close/>
                </a:path>
              </a:pathLst>
            </a:custGeom>
            <a:blipFill>
              <a:blip r:embed="rId3"/>
              <a:stretch>
                <a:fillRect l="0" t="-3973" r="0" b="-3973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9273636" y="1927492"/>
            <a:ext cx="3845772" cy="7330808"/>
            <a:chOff x="0" y="0"/>
            <a:chExt cx="8624570" cy="164401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11480" y="269240"/>
              <a:ext cx="775335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3350">
                  <a:moveTo>
                    <a:pt x="7753350" y="791210"/>
                  </a:moveTo>
                  <a:lnTo>
                    <a:pt x="7753350" y="15116810"/>
                  </a:lnTo>
                  <a:cubicBezTo>
                    <a:pt x="7753350" y="15553690"/>
                    <a:pt x="7399020" y="15908021"/>
                    <a:pt x="696214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399020" y="0"/>
                    <a:pt x="7753350" y="353060"/>
                    <a:pt x="7753350" y="791210"/>
                  </a:cubicBezTo>
                  <a:close/>
                </a:path>
              </a:pathLst>
            </a:custGeom>
            <a:blipFill>
              <a:blip r:embed="rId4"/>
              <a:stretch>
                <a:fillRect l="-499" t="0" r="-499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13413528" y="1927492"/>
            <a:ext cx="3845772" cy="7330808"/>
            <a:chOff x="0" y="0"/>
            <a:chExt cx="8624570" cy="164401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11480" y="269240"/>
              <a:ext cx="775335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3350">
                  <a:moveTo>
                    <a:pt x="7753350" y="791210"/>
                  </a:moveTo>
                  <a:lnTo>
                    <a:pt x="7753350" y="15116810"/>
                  </a:lnTo>
                  <a:cubicBezTo>
                    <a:pt x="7753350" y="15553690"/>
                    <a:pt x="7399020" y="15908021"/>
                    <a:pt x="696214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399020" y="0"/>
                    <a:pt x="7753350" y="353060"/>
                    <a:pt x="7753350" y="791210"/>
                  </a:cubicBezTo>
                  <a:close/>
                </a:path>
              </a:pathLst>
            </a:custGeom>
            <a:blipFill>
              <a:blip r:embed="rId5"/>
              <a:stretch>
                <a:fillRect l="0" t="-363" r="0" b="-363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sp>
        <p:nvSpPr>
          <p:cNvPr name="TextBox 36" id="36"/>
          <p:cNvSpPr txBox="true"/>
          <p:nvPr/>
        </p:nvSpPr>
        <p:spPr>
          <a:xfrm rot="0">
            <a:off x="1785623" y="480668"/>
            <a:ext cx="15147475" cy="11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b="true" sz="9600" spc="-432">
                <a:solidFill>
                  <a:srgbClr val="3E11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The Patient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85623" y="9629775"/>
            <a:ext cx="1917767" cy="38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3161" spc="-142">
                <a:solidFill>
                  <a:srgbClr val="3E1152"/>
                </a:solidFill>
                <a:latin typeface="Open Sauce"/>
                <a:ea typeface="Open Sauce"/>
                <a:cs typeface="Open Sauce"/>
                <a:sym typeface="Open Sauce"/>
              </a:rPr>
              <a:t>Login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70370" y="9629775"/>
            <a:ext cx="1917767" cy="38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3161" spc="-142">
                <a:solidFill>
                  <a:srgbClr val="3E1152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31129" y="9629775"/>
            <a:ext cx="1917767" cy="38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3161" spc="-142">
                <a:solidFill>
                  <a:srgbClr val="3E1152"/>
                </a:solidFill>
                <a:latin typeface="Open Sauce"/>
                <a:ea typeface="Open Sauce"/>
                <a:cs typeface="Open Sauce"/>
                <a:sym typeface="Open Sauce"/>
              </a:rPr>
              <a:t>SOS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494263" y="9629775"/>
            <a:ext cx="1917767" cy="38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</a:pPr>
            <a:r>
              <a:rPr lang="en-US" sz="3161" spc="-142">
                <a:solidFill>
                  <a:srgbClr val="3E1152"/>
                </a:solidFill>
                <a:latin typeface="Open Sauce"/>
                <a:ea typeface="Open Sauce"/>
                <a:cs typeface="Open Sauce"/>
                <a:sym typeface="Open Sauce"/>
              </a:rPr>
              <a:t>Response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97085" y="1927492"/>
            <a:ext cx="3845772" cy="7330808"/>
            <a:chOff x="0" y="0"/>
            <a:chExt cx="8624570" cy="16440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11480" y="269240"/>
              <a:ext cx="775335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3350">
                  <a:moveTo>
                    <a:pt x="7753350" y="791210"/>
                  </a:moveTo>
                  <a:lnTo>
                    <a:pt x="7753350" y="15116810"/>
                  </a:lnTo>
                  <a:cubicBezTo>
                    <a:pt x="7753350" y="15553690"/>
                    <a:pt x="7399020" y="15908021"/>
                    <a:pt x="696214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399020" y="0"/>
                    <a:pt x="7753350" y="353060"/>
                    <a:pt x="7753350" y="791210"/>
                  </a:cubicBezTo>
                  <a:close/>
                </a:path>
              </a:pathLst>
            </a:custGeom>
            <a:blipFill>
              <a:blip r:embed="rId2"/>
              <a:stretch>
                <a:fillRect l="-2410" t="0" r="-241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5193453" y="1927492"/>
            <a:ext cx="3845772" cy="7330808"/>
            <a:chOff x="0" y="0"/>
            <a:chExt cx="8624570" cy="16440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11480" y="269240"/>
              <a:ext cx="775335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3350">
                  <a:moveTo>
                    <a:pt x="7753350" y="791210"/>
                  </a:moveTo>
                  <a:lnTo>
                    <a:pt x="7753350" y="15116810"/>
                  </a:lnTo>
                  <a:cubicBezTo>
                    <a:pt x="7753350" y="15553690"/>
                    <a:pt x="7399020" y="15908021"/>
                    <a:pt x="696214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399020" y="0"/>
                    <a:pt x="7753350" y="353060"/>
                    <a:pt x="7753350" y="791210"/>
                  </a:cubicBezTo>
                  <a:close/>
                </a:path>
              </a:pathLst>
            </a:custGeom>
            <a:blipFill>
              <a:blip r:embed="rId3"/>
              <a:stretch>
                <a:fillRect l="-2640" t="0" r="-264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273636" y="1927492"/>
            <a:ext cx="3845772" cy="7330808"/>
            <a:chOff x="0" y="0"/>
            <a:chExt cx="8624570" cy="16440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11480" y="269240"/>
              <a:ext cx="775335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3350">
                  <a:moveTo>
                    <a:pt x="7753350" y="791210"/>
                  </a:moveTo>
                  <a:lnTo>
                    <a:pt x="7753350" y="15116810"/>
                  </a:lnTo>
                  <a:cubicBezTo>
                    <a:pt x="7753350" y="15553690"/>
                    <a:pt x="7399020" y="15908021"/>
                    <a:pt x="696214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399020" y="0"/>
                    <a:pt x="7753350" y="353060"/>
                    <a:pt x="7753350" y="791210"/>
                  </a:cubicBezTo>
                  <a:close/>
                </a:path>
              </a:pathLst>
            </a:custGeom>
            <a:blipFill>
              <a:blip r:embed="rId4"/>
              <a:stretch>
                <a:fillRect l="-683" t="0" r="-683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413528" y="1927492"/>
            <a:ext cx="3845772" cy="7330808"/>
            <a:chOff x="0" y="0"/>
            <a:chExt cx="8624570" cy="16440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11480" y="269240"/>
              <a:ext cx="7753350" cy="15908021"/>
            </a:xfrm>
            <a:custGeom>
              <a:avLst/>
              <a:gdLst/>
              <a:ahLst/>
              <a:cxnLst/>
              <a:rect r="r" b="b" t="t" l="l"/>
              <a:pathLst>
                <a:path h="15908021" w="7753350">
                  <a:moveTo>
                    <a:pt x="7753350" y="791210"/>
                  </a:moveTo>
                  <a:lnTo>
                    <a:pt x="7753350" y="15116810"/>
                  </a:lnTo>
                  <a:cubicBezTo>
                    <a:pt x="7753350" y="15553690"/>
                    <a:pt x="7399020" y="15908021"/>
                    <a:pt x="6962140" y="15908021"/>
                  </a:cubicBezTo>
                  <a:lnTo>
                    <a:pt x="791210" y="15908021"/>
                  </a:lnTo>
                  <a:cubicBezTo>
                    <a:pt x="354330" y="15908021"/>
                    <a:pt x="0" y="15553690"/>
                    <a:pt x="0" y="15116810"/>
                  </a:cubicBez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2140" y="0"/>
                  </a:lnTo>
                  <a:cubicBezTo>
                    <a:pt x="7399020" y="0"/>
                    <a:pt x="7753350" y="353060"/>
                    <a:pt x="7753350" y="791210"/>
                  </a:cubicBezTo>
                  <a:close/>
                </a:path>
              </a:pathLst>
            </a:custGeom>
            <a:blipFill>
              <a:blip r:embed="rId5"/>
              <a:stretch>
                <a:fillRect l="0" t="-1356" r="0" b="-1356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sp>
        <p:nvSpPr>
          <p:cNvPr name="TextBox 14" id="14"/>
          <p:cNvSpPr txBox="true"/>
          <p:nvPr/>
        </p:nvSpPr>
        <p:spPr>
          <a:xfrm rot="0">
            <a:off x="1785623" y="480668"/>
            <a:ext cx="15147475" cy="11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b="true" sz="9600" spc="-432">
                <a:solidFill>
                  <a:srgbClr val="3E11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The Responder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1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68" y="2193455"/>
            <a:ext cx="10984210" cy="769728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0542089" y="194352"/>
            <a:ext cx="2994218" cy="703936"/>
            <a:chOff x="0" y="0"/>
            <a:chExt cx="616094" cy="144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6094" cy="144843"/>
            </a:xfrm>
            <a:custGeom>
              <a:avLst/>
              <a:gdLst/>
              <a:ahLst/>
              <a:cxnLst/>
              <a:rect r="r" b="b" t="t" l="l"/>
              <a:pathLst>
                <a:path h="144843" w="616094">
                  <a:moveTo>
                    <a:pt x="0" y="0"/>
                  </a:moveTo>
                  <a:lnTo>
                    <a:pt x="616094" y="0"/>
                  </a:lnTo>
                  <a:lnTo>
                    <a:pt x="616094" y="144843"/>
                  </a:lnTo>
                  <a:lnTo>
                    <a:pt x="0" y="144843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616094" cy="201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Stakeholders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-154114"/>
            <a:ext cx="9676841" cy="10595228"/>
            <a:chOff x="0" y="0"/>
            <a:chExt cx="1991120" cy="21800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1120" cy="2180088"/>
            </a:xfrm>
            <a:custGeom>
              <a:avLst/>
              <a:gdLst/>
              <a:ahLst/>
              <a:cxnLst/>
              <a:rect r="r" b="b" t="t" l="l"/>
              <a:pathLst>
                <a:path h="2180088" w="1991120">
                  <a:moveTo>
                    <a:pt x="15626" y="0"/>
                  </a:moveTo>
                  <a:lnTo>
                    <a:pt x="1975494" y="0"/>
                  </a:lnTo>
                  <a:cubicBezTo>
                    <a:pt x="1984124" y="0"/>
                    <a:pt x="1991120" y="6996"/>
                    <a:pt x="1991120" y="15626"/>
                  </a:cubicBezTo>
                  <a:lnTo>
                    <a:pt x="1991120" y="2164462"/>
                  </a:lnTo>
                  <a:cubicBezTo>
                    <a:pt x="1991120" y="2173092"/>
                    <a:pt x="1984124" y="2180088"/>
                    <a:pt x="1975494" y="2180088"/>
                  </a:cubicBezTo>
                  <a:lnTo>
                    <a:pt x="15626" y="2180088"/>
                  </a:lnTo>
                  <a:cubicBezTo>
                    <a:pt x="6996" y="2180088"/>
                    <a:pt x="0" y="2173092"/>
                    <a:pt x="0" y="2164462"/>
                  </a:cubicBezTo>
                  <a:lnTo>
                    <a:pt x="0" y="15626"/>
                  </a:lnTo>
                  <a:cubicBezTo>
                    <a:pt x="0" y="6996"/>
                    <a:pt x="6996" y="0"/>
                    <a:pt x="15626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91120" cy="2218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04648" y="4093325"/>
            <a:ext cx="6554652" cy="703936"/>
            <a:chOff x="0" y="0"/>
            <a:chExt cx="1348694" cy="1448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8694" cy="144843"/>
            </a:xfrm>
            <a:custGeom>
              <a:avLst/>
              <a:gdLst/>
              <a:ahLst/>
              <a:cxnLst/>
              <a:rect r="r" b="b" t="t" l="l"/>
              <a:pathLst>
                <a:path h="144843" w="1348694">
                  <a:moveTo>
                    <a:pt x="0" y="0"/>
                  </a:moveTo>
                  <a:lnTo>
                    <a:pt x="1348694" y="0"/>
                  </a:lnTo>
                  <a:lnTo>
                    <a:pt x="1348694" y="144843"/>
                  </a:lnTo>
                  <a:lnTo>
                    <a:pt x="0" y="1448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348694" cy="201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Role allocation of management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42089" y="103222"/>
            <a:ext cx="6554652" cy="703936"/>
            <a:chOff x="0" y="0"/>
            <a:chExt cx="1348694" cy="144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8694" cy="144843"/>
            </a:xfrm>
            <a:custGeom>
              <a:avLst/>
              <a:gdLst/>
              <a:ahLst/>
              <a:cxnLst/>
              <a:rect r="r" b="b" t="t" l="l"/>
              <a:pathLst>
                <a:path h="144843" w="1348694">
                  <a:moveTo>
                    <a:pt x="0" y="0"/>
                  </a:moveTo>
                  <a:lnTo>
                    <a:pt x="1348694" y="0"/>
                  </a:lnTo>
                  <a:lnTo>
                    <a:pt x="1348694" y="144843"/>
                  </a:lnTo>
                  <a:lnTo>
                    <a:pt x="0" y="1448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48694" cy="201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Stakeholder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1083" y="480668"/>
            <a:ext cx="8440076" cy="11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sz="9600" spc="-4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28835" y="5153025"/>
            <a:ext cx="7809182" cy="487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F042D"/>
                </a:solidFill>
                <a:latin typeface="Open Sans"/>
                <a:ea typeface="Open Sans"/>
                <a:cs typeface="Open Sans"/>
                <a:sym typeface="Open Sans"/>
              </a:rPr>
              <a:t>Coordinate responder and patient</a:t>
            </a:r>
          </a:p>
          <a:p>
            <a:pPr algn="l">
              <a:lnSpc>
                <a:spcPts val="4298"/>
              </a:lnSpc>
            </a:pPr>
          </a:p>
          <a:p>
            <a:pPr algn="l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F042D"/>
                </a:solidFill>
                <a:latin typeface="Open Sans"/>
                <a:ea typeface="Open Sans"/>
                <a:cs typeface="Open Sans"/>
                <a:sym typeface="Open Sans"/>
              </a:rPr>
              <a:t>User management </a:t>
            </a:r>
          </a:p>
          <a:p>
            <a:pPr algn="l">
              <a:lnSpc>
                <a:spcPts val="4298"/>
              </a:lnSpc>
            </a:pPr>
          </a:p>
          <a:p>
            <a:pPr algn="l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F042D"/>
                </a:solidFill>
                <a:latin typeface="Open Sans"/>
                <a:ea typeface="Open Sans"/>
                <a:cs typeface="Open Sans"/>
                <a:sym typeface="Open Sans"/>
              </a:rPr>
              <a:t>Assign roles </a:t>
            </a:r>
          </a:p>
          <a:p>
            <a:pPr algn="l">
              <a:lnSpc>
                <a:spcPts val="4298"/>
              </a:lnSpc>
            </a:pPr>
          </a:p>
          <a:p>
            <a:pPr algn="l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F042D"/>
                </a:solidFill>
                <a:latin typeface="Open Sans"/>
                <a:ea typeface="Open Sans"/>
                <a:cs typeface="Open Sans"/>
                <a:sym typeface="Open Sans"/>
              </a:rPr>
              <a:t>Payments </a:t>
            </a:r>
          </a:p>
          <a:p>
            <a:pPr algn="l">
              <a:lnSpc>
                <a:spcPts val="4298"/>
              </a:lnSpc>
            </a:pPr>
          </a:p>
          <a:p>
            <a:pPr algn="l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F042D"/>
                </a:solidFill>
                <a:latin typeface="Open Sans"/>
                <a:ea typeface="Open Sans"/>
                <a:cs typeface="Open Sans"/>
                <a:sym typeface="Open Sans"/>
              </a:rPr>
              <a:t>Verification and Compliance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01291" y="1159583"/>
            <a:ext cx="3932134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Superadmin</a:t>
            </a:r>
          </a:p>
          <a:p>
            <a:pPr algn="just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Admin</a:t>
            </a:r>
          </a:p>
          <a:p>
            <a:pPr algn="just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Managers</a:t>
            </a:r>
          </a:p>
          <a:p>
            <a:pPr algn="just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Supervisors</a:t>
            </a:r>
          </a:p>
          <a:p>
            <a:pPr algn="just" marL="773391" indent="-386696" lvl="1">
              <a:lnSpc>
                <a:spcPts val="4298"/>
              </a:lnSpc>
              <a:buFont typeface="Arial"/>
              <a:buChar char="•"/>
            </a:pPr>
            <a:r>
              <a:rPr lang="en-US" sz="3582" spc="-2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Employees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3E1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0263" y="1047825"/>
            <a:ext cx="15147475" cy="11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sz="9600" spc="-4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Unique Value Proposition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57684" y="3449549"/>
            <a:ext cx="12940312" cy="586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549" indent="-381775" lvl="1">
              <a:lnSpc>
                <a:spcPts val="4243"/>
              </a:lnSpc>
              <a:buFont typeface="Arial"/>
              <a:buChar char="•"/>
            </a:pPr>
            <a:r>
              <a:rPr lang="en-US" b="true" sz="3536" spc="-2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Faster emergency response &lt; 20mins </a:t>
            </a:r>
          </a:p>
          <a:p>
            <a:pPr algn="l">
              <a:lnSpc>
                <a:spcPts val="4243"/>
              </a:lnSpc>
            </a:pPr>
          </a:p>
          <a:p>
            <a:pPr algn="l" marL="763549" indent="-381775" lvl="1">
              <a:lnSpc>
                <a:spcPts val="4243"/>
              </a:lnSpc>
              <a:buFont typeface="Arial"/>
              <a:buChar char="•"/>
            </a:pPr>
            <a:r>
              <a:rPr lang="en-US" b="true" sz="3536" spc="-2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GPS tracking - with 3D Visualization of the area</a:t>
            </a:r>
          </a:p>
          <a:p>
            <a:pPr algn="l">
              <a:lnSpc>
                <a:spcPts val="4243"/>
              </a:lnSpc>
            </a:pPr>
          </a:p>
          <a:p>
            <a:pPr algn="l" marL="763549" indent="-381775" lvl="1">
              <a:lnSpc>
                <a:spcPts val="4243"/>
              </a:lnSpc>
              <a:buFont typeface="Arial"/>
              <a:buChar char="•"/>
            </a:pPr>
            <a:r>
              <a:rPr lang="en-US" b="true" sz="3536" spc="-2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Cloud-based infrastructure - scalable and reliable </a:t>
            </a:r>
          </a:p>
          <a:p>
            <a:pPr algn="l">
              <a:lnSpc>
                <a:spcPts val="4243"/>
              </a:lnSpc>
            </a:pPr>
          </a:p>
          <a:p>
            <a:pPr algn="l" marL="763549" indent="-381775" lvl="1">
              <a:lnSpc>
                <a:spcPts val="4243"/>
              </a:lnSpc>
              <a:buFont typeface="Arial"/>
              <a:buChar char="•"/>
            </a:pPr>
            <a:r>
              <a:rPr lang="en-US" b="true" sz="3536" spc="-2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 both  private and public responders </a:t>
            </a:r>
          </a:p>
          <a:p>
            <a:pPr algn="l">
              <a:lnSpc>
                <a:spcPts val="4243"/>
              </a:lnSpc>
            </a:pPr>
          </a:p>
          <a:p>
            <a:pPr algn="l" marL="763549" indent="-381775" lvl="1">
              <a:lnSpc>
                <a:spcPts val="4243"/>
              </a:lnSpc>
              <a:buFont typeface="Arial"/>
              <a:buChar char="•"/>
            </a:pPr>
            <a:r>
              <a:rPr lang="en-US" b="true" sz="3536" spc="-2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Secured client information</a:t>
            </a:r>
          </a:p>
          <a:p>
            <a:pPr algn="l">
              <a:lnSpc>
                <a:spcPts val="4243"/>
              </a:lnSpc>
            </a:pPr>
          </a:p>
          <a:p>
            <a:pPr algn="l">
              <a:lnSpc>
                <a:spcPts val="424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1798" y="2584289"/>
            <a:ext cx="2791902" cy="595810"/>
            <a:chOff x="0" y="0"/>
            <a:chExt cx="635000" cy="1355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" cy="135513"/>
            </a:xfrm>
            <a:custGeom>
              <a:avLst/>
              <a:gdLst/>
              <a:ahLst/>
              <a:cxnLst/>
              <a:rect r="r" b="b" t="t" l="l"/>
              <a:pathLst>
                <a:path h="135513" w="635000">
                  <a:moveTo>
                    <a:pt x="54160" y="0"/>
                  </a:moveTo>
                  <a:lnTo>
                    <a:pt x="580840" y="0"/>
                  </a:lnTo>
                  <a:cubicBezTo>
                    <a:pt x="610752" y="0"/>
                    <a:pt x="635000" y="24248"/>
                    <a:pt x="635000" y="54160"/>
                  </a:cubicBezTo>
                  <a:lnTo>
                    <a:pt x="635000" y="81353"/>
                  </a:lnTo>
                  <a:cubicBezTo>
                    <a:pt x="635000" y="95717"/>
                    <a:pt x="629294" y="109493"/>
                    <a:pt x="619137" y="119650"/>
                  </a:cubicBezTo>
                  <a:cubicBezTo>
                    <a:pt x="608980" y="129807"/>
                    <a:pt x="595204" y="135513"/>
                    <a:pt x="580840" y="135513"/>
                  </a:cubicBezTo>
                  <a:lnTo>
                    <a:pt x="54160" y="135513"/>
                  </a:lnTo>
                  <a:cubicBezTo>
                    <a:pt x="24248" y="135513"/>
                    <a:pt x="0" y="111265"/>
                    <a:pt x="0" y="81353"/>
                  </a:cubicBezTo>
                  <a:lnTo>
                    <a:pt x="0" y="54160"/>
                  </a:lnTo>
                  <a:cubicBezTo>
                    <a:pt x="0" y="24248"/>
                    <a:pt x="24248" y="0"/>
                    <a:pt x="54160" y="0"/>
                  </a:cubicBezTo>
                  <a:close/>
                </a:path>
              </a:pathLst>
            </a:custGeom>
            <a:solidFill>
              <a:srgbClr val="3E11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35000" cy="13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7233" y="152400"/>
            <a:ext cx="11173222" cy="130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8"/>
              </a:lnSpc>
            </a:pPr>
            <a:r>
              <a:rPr lang="en-US" b="true" sz="9600" spc="-432">
                <a:solidFill>
                  <a:srgbClr val="3E11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Execution 5yr Plan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4654" y="5242174"/>
            <a:ext cx="3207517" cy="3172624"/>
            <a:chOff x="0" y="0"/>
            <a:chExt cx="729529" cy="7215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9529" cy="721593"/>
            </a:xfrm>
            <a:custGeom>
              <a:avLst/>
              <a:gdLst/>
              <a:ahLst/>
              <a:cxnLst/>
              <a:rect r="r" b="b" t="t" l="l"/>
              <a:pathLst>
                <a:path h="721593" w="729529">
                  <a:moveTo>
                    <a:pt x="47142" y="0"/>
                  </a:moveTo>
                  <a:lnTo>
                    <a:pt x="682387" y="0"/>
                  </a:lnTo>
                  <a:cubicBezTo>
                    <a:pt x="708423" y="0"/>
                    <a:pt x="729529" y="21106"/>
                    <a:pt x="729529" y="47142"/>
                  </a:cubicBezTo>
                  <a:lnTo>
                    <a:pt x="729529" y="674451"/>
                  </a:lnTo>
                  <a:cubicBezTo>
                    <a:pt x="729529" y="700487"/>
                    <a:pt x="708423" y="721593"/>
                    <a:pt x="682387" y="721593"/>
                  </a:cubicBezTo>
                  <a:lnTo>
                    <a:pt x="47142" y="721593"/>
                  </a:lnTo>
                  <a:cubicBezTo>
                    <a:pt x="21106" y="721593"/>
                    <a:pt x="0" y="700487"/>
                    <a:pt x="0" y="674451"/>
                  </a:cubicBezTo>
                  <a:lnTo>
                    <a:pt x="0" y="47142"/>
                  </a:lnTo>
                  <a:cubicBezTo>
                    <a:pt x="0" y="21106"/>
                    <a:pt x="21106" y="0"/>
                    <a:pt x="47142" y="0"/>
                  </a:cubicBezTo>
                  <a:close/>
                </a:path>
              </a:pathLst>
            </a:custGeom>
            <a:solidFill>
              <a:srgbClr val="B896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729529" cy="721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19324" y="2517614"/>
            <a:ext cx="1136849" cy="5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b="true" sz="3347">
                <a:solidFill>
                  <a:srgbClr val="EFEF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Year1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9218" y="5934713"/>
            <a:ext cx="2993704" cy="189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Launch MVP: patient, respon</a:t>
            </a: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 &amp; admin apps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Pilot in 1 county with a public ambulance partner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Verify and onboard first 50 responders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Close KSH 5.7M seed round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7103" y="4026954"/>
            <a:ext cx="2657934" cy="54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4004" spc="-180" b="true">
                <a:solidFill>
                  <a:srgbClr val="3E11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Foundation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954591" y="2584289"/>
            <a:ext cx="2791902" cy="595810"/>
            <a:chOff x="0" y="0"/>
            <a:chExt cx="635000" cy="1355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135513"/>
            </a:xfrm>
            <a:custGeom>
              <a:avLst/>
              <a:gdLst/>
              <a:ahLst/>
              <a:cxnLst/>
              <a:rect r="r" b="b" t="t" l="l"/>
              <a:pathLst>
                <a:path h="135513" w="635000">
                  <a:moveTo>
                    <a:pt x="54160" y="0"/>
                  </a:moveTo>
                  <a:lnTo>
                    <a:pt x="580840" y="0"/>
                  </a:lnTo>
                  <a:cubicBezTo>
                    <a:pt x="610752" y="0"/>
                    <a:pt x="635000" y="24248"/>
                    <a:pt x="635000" y="54160"/>
                  </a:cubicBezTo>
                  <a:lnTo>
                    <a:pt x="635000" y="81353"/>
                  </a:lnTo>
                  <a:cubicBezTo>
                    <a:pt x="635000" y="95717"/>
                    <a:pt x="629294" y="109493"/>
                    <a:pt x="619137" y="119650"/>
                  </a:cubicBezTo>
                  <a:cubicBezTo>
                    <a:pt x="608980" y="129807"/>
                    <a:pt x="595204" y="135513"/>
                    <a:pt x="580840" y="135513"/>
                  </a:cubicBezTo>
                  <a:lnTo>
                    <a:pt x="54160" y="135513"/>
                  </a:lnTo>
                  <a:cubicBezTo>
                    <a:pt x="24248" y="135513"/>
                    <a:pt x="0" y="111265"/>
                    <a:pt x="0" y="81353"/>
                  </a:cubicBezTo>
                  <a:lnTo>
                    <a:pt x="0" y="54160"/>
                  </a:lnTo>
                  <a:cubicBezTo>
                    <a:pt x="0" y="24248"/>
                    <a:pt x="24248" y="0"/>
                    <a:pt x="54160" y="0"/>
                  </a:cubicBezTo>
                  <a:close/>
                </a:path>
              </a:pathLst>
            </a:custGeom>
            <a:solidFill>
              <a:srgbClr val="3E11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35000" cy="13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77447" y="5242174"/>
            <a:ext cx="3207517" cy="3172624"/>
            <a:chOff x="0" y="0"/>
            <a:chExt cx="729529" cy="721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9529" cy="721593"/>
            </a:xfrm>
            <a:custGeom>
              <a:avLst/>
              <a:gdLst/>
              <a:ahLst/>
              <a:cxnLst/>
              <a:rect r="r" b="b" t="t" l="l"/>
              <a:pathLst>
                <a:path h="721593" w="729529">
                  <a:moveTo>
                    <a:pt x="47142" y="0"/>
                  </a:moveTo>
                  <a:lnTo>
                    <a:pt x="682387" y="0"/>
                  </a:lnTo>
                  <a:cubicBezTo>
                    <a:pt x="708423" y="0"/>
                    <a:pt x="729529" y="21106"/>
                    <a:pt x="729529" y="47142"/>
                  </a:cubicBezTo>
                  <a:lnTo>
                    <a:pt x="729529" y="674451"/>
                  </a:lnTo>
                  <a:cubicBezTo>
                    <a:pt x="729529" y="700487"/>
                    <a:pt x="708423" y="721593"/>
                    <a:pt x="682387" y="721593"/>
                  </a:cubicBezTo>
                  <a:lnTo>
                    <a:pt x="47142" y="721593"/>
                  </a:lnTo>
                  <a:cubicBezTo>
                    <a:pt x="21106" y="721593"/>
                    <a:pt x="0" y="700487"/>
                    <a:pt x="0" y="674451"/>
                  </a:cubicBezTo>
                  <a:lnTo>
                    <a:pt x="0" y="47142"/>
                  </a:lnTo>
                  <a:cubicBezTo>
                    <a:pt x="0" y="21106"/>
                    <a:pt x="21106" y="0"/>
                    <a:pt x="47142" y="0"/>
                  </a:cubicBezTo>
                  <a:close/>
                </a:path>
              </a:pathLst>
            </a:custGeom>
            <a:solidFill>
              <a:srgbClr val="B896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29529" cy="721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775682" y="2517614"/>
            <a:ext cx="1149721" cy="5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b="true" sz="3347">
                <a:solidFill>
                  <a:srgbClr val="EFEF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Year2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22012" y="5934713"/>
            <a:ext cx="2993704" cy="162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</a:t>
            </a: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to 3–5 counties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Launch private-provi</a:t>
            </a: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 subscriptions (B2B)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 M-Pesa billing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Reach 5,000 users, 200 verified responders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44408" y="4026954"/>
            <a:ext cx="2012269" cy="54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4004" spc="-180" b="true">
                <a:solidFill>
                  <a:srgbClr val="3E11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Validate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417385" y="2584289"/>
            <a:ext cx="2791902" cy="595810"/>
            <a:chOff x="0" y="0"/>
            <a:chExt cx="635000" cy="1355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135513"/>
            </a:xfrm>
            <a:custGeom>
              <a:avLst/>
              <a:gdLst/>
              <a:ahLst/>
              <a:cxnLst/>
              <a:rect r="r" b="b" t="t" l="l"/>
              <a:pathLst>
                <a:path h="135513" w="635000">
                  <a:moveTo>
                    <a:pt x="54160" y="0"/>
                  </a:moveTo>
                  <a:lnTo>
                    <a:pt x="580840" y="0"/>
                  </a:lnTo>
                  <a:cubicBezTo>
                    <a:pt x="610752" y="0"/>
                    <a:pt x="635000" y="24248"/>
                    <a:pt x="635000" y="54160"/>
                  </a:cubicBezTo>
                  <a:lnTo>
                    <a:pt x="635000" y="81353"/>
                  </a:lnTo>
                  <a:cubicBezTo>
                    <a:pt x="635000" y="95717"/>
                    <a:pt x="629294" y="109493"/>
                    <a:pt x="619137" y="119650"/>
                  </a:cubicBezTo>
                  <a:cubicBezTo>
                    <a:pt x="608980" y="129807"/>
                    <a:pt x="595204" y="135513"/>
                    <a:pt x="580840" y="135513"/>
                  </a:cubicBezTo>
                  <a:lnTo>
                    <a:pt x="54160" y="135513"/>
                  </a:lnTo>
                  <a:cubicBezTo>
                    <a:pt x="24248" y="135513"/>
                    <a:pt x="0" y="111265"/>
                    <a:pt x="0" y="81353"/>
                  </a:cubicBezTo>
                  <a:lnTo>
                    <a:pt x="0" y="54160"/>
                  </a:lnTo>
                  <a:cubicBezTo>
                    <a:pt x="0" y="24248"/>
                    <a:pt x="24248" y="0"/>
                    <a:pt x="54160" y="0"/>
                  </a:cubicBezTo>
                  <a:close/>
                </a:path>
              </a:pathLst>
            </a:custGeom>
            <a:solidFill>
              <a:srgbClr val="3E115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35000" cy="13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  <a:r>
                <a:rPr lang="en-US" sz="2238" spc="-134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40241" y="5242174"/>
            <a:ext cx="3207517" cy="3172624"/>
            <a:chOff x="0" y="0"/>
            <a:chExt cx="729529" cy="7215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9529" cy="721593"/>
            </a:xfrm>
            <a:custGeom>
              <a:avLst/>
              <a:gdLst/>
              <a:ahLst/>
              <a:cxnLst/>
              <a:rect r="r" b="b" t="t" l="l"/>
              <a:pathLst>
                <a:path h="721593" w="729529">
                  <a:moveTo>
                    <a:pt x="47142" y="0"/>
                  </a:moveTo>
                  <a:lnTo>
                    <a:pt x="682387" y="0"/>
                  </a:lnTo>
                  <a:cubicBezTo>
                    <a:pt x="708423" y="0"/>
                    <a:pt x="729529" y="21106"/>
                    <a:pt x="729529" y="47142"/>
                  </a:cubicBezTo>
                  <a:lnTo>
                    <a:pt x="729529" y="674451"/>
                  </a:lnTo>
                  <a:cubicBezTo>
                    <a:pt x="729529" y="700487"/>
                    <a:pt x="708423" y="721593"/>
                    <a:pt x="682387" y="721593"/>
                  </a:cubicBezTo>
                  <a:lnTo>
                    <a:pt x="47142" y="721593"/>
                  </a:lnTo>
                  <a:cubicBezTo>
                    <a:pt x="21106" y="721593"/>
                    <a:pt x="0" y="700487"/>
                    <a:pt x="0" y="674451"/>
                  </a:cubicBezTo>
                  <a:lnTo>
                    <a:pt x="0" y="47142"/>
                  </a:lnTo>
                  <a:cubicBezTo>
                    <a:pt x="0" y="21106"/>
                    <a:pt x="21106" y="0"/>
                    <a:pt x="47142" y="0"/>
                  </a:cubicBezTo>
                  <a:close/>
                </a:path>
              </a:pathLst>
            </a:custGeom>
            <a:solidFill>
              <a:srgbClr val="B896F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29529" cy="721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231313" y="2517614"/>
            <a:ext cx="1164047" cy="5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b="true" sz="3347">
                <a:solidFill>
                  <a:srgbClr val="EFEF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Year3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84805" y="5934713"/>
            <a:ext cx="2993704" cy="189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ation</a:t>
            </a: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 rollout to 15+ counties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County government &amp; NGO partnerships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Multilingual AI triage (Swahili &amp; local languages)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Reach operating break-even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31313" y="4026954"/>
            <a:ext cx="1566728" cy="54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4004" spc="-180" b="true">
                <a:solidFill>
                  <a:srgbClr val="3E11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Scale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880179" y="2584289"/>
            <a:ext cx="2791902" cy="595810"/>
            <a:chOff x="0" y="0"/>
            <a:chExt cx="635000" cy="13551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" cy="135513"/>
            </a:xfrm>
            <a:custGeom>
              <a:avLst/>
              <a:gdLst/>
              <a:ahLst/>
              <a:cxnLst/>
              <a:rect r="r" b="b" t="t" l="l"/>
              <a:pathLst>
                <a:path h="135513" w="635000">
                  <a:moveTo>
                    <a:pt x="54160" y="0"/>
                  </a:moveTo>
                  <a:lnTo>
                    <a:pt x="580840" y="0"/>
                  </a:lnTo>
                  <a:cubicBezTo>
                    <a:pt x="610752" y="0"/>
                    <a:pt x="635000" y="24248"/>
                    <a:pt x="635000" y="54160"/>
                  </a:cubicBezTo>
                  <a:lnTo>
                    <a:pt x="635000" y="81353"/>
                  </a:lnTo>
                  <a:cubicBezTo>
                    <a:pt x="635000" y="95717"/>
                    <a:pt x="629294" y="109493"/>
                    <a:pt x="619137" y="119650"/>
                  </a:cubicBezTo>
                  <a:cubicBezTo>
                    <a:pt x="608980" y="129807"/>
                    <a:pt x="595204" y="135513"/>
                    <a:pt x="580840" y="135513"/>
                  </a:cubicBezTo>
                  <a:lnTo>
                    <a:pt x="54160" y="135513"/>
                  </a:lnTo>
                  <a:cubicBezTo>
                    <a:pt x="24248" y="135513"/>
                    <a:pt x="0" y="111265"/>
                    <a:pt x="0" y="81353"/>
                  </a:cubicBezTo>
                  <a:lnTo>
                    <a:pt x="0" y="54160"/>
                  </a:lnTo>
                  <a:cubicBezTo>
                    <a:pt x="0" y="24248"/>
                    <a:pt x="24248" y="0"/>
                    <a:pt x="54160" y="0"/>
                  </a:cubicBezTo>
                  <a:close/>
                </a:path>
              </a:pathLst>
            </a:custGeom>
            <a:solidFill>
              <a:srgbClr val="3E115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35000" cy="13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03035" y="5242174"/>
            <a:ext cx="3207517" cy="3172624"/>
            <a:chOff x="0" y="0"/>
            <a:chExt cx="729529" cy="7215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9529" cy="721593"/>
            </a:xfrm>
            <a:custGeom>
              <a:avLst/>
              <a:gdLst/>
              <a:ahLst/>
              <a:cxnLst/>
              <a:rect r="r" b="b" t="t" l="l"/>
              <a:pathLst>
                <a:path h="721593" w="729529">
                  <a:moveTo>
                    <a:pt x="47142" y="0"/>
                  </a:moveTo>
                  <a:lnTo>
                    <a:pt x="682387" y="0"/>
                  </a:lnTo>
                  <a:cubicBezTo>
                    <a:pt x="708423" y="0"/>
                    <a:pt x="729529" y="21106"/>
                    <a:pt x="729529" y="47142"/>
                  </a:cubicBezTo>
                  <a:lnTo>
                    <a:pt x="729529" y="674451"/>
                  </a:lnTo>
                  <a:cubicBezTo>
                    <a:pt x="729529" y="700487"/>
                    <a:pt x="708423" y="721593"/>
                    <a:pt x="682387" y="721593"/>
                  </a:cubicBezTo>
                  <a:lnTo>
                    <a:pt x="47142" y="721593"/>
                  </a:lnTo>
                  <a:cubicBezTo>
                    <a:pt x="21106" y="721593"/>
                    <a:pt x="0" y="700487"/>
                    <a:pt x="0" y="674451"/>
                  </a:cubicBezTo>
                  <a:lnTo>
                    <a:pt x="0" y="47142"/>
                  </a:lnTo>
                  <a:cubicBezTo>
                    <a:pt x="0" y="21106"/>
                    <a:pt x="21106" y="0"/>
                    <a:pt x="47142" y="0"/>
                  </a:cubicBezTo>
                  <a:close/>
                </a:path>
              </a:pathLst>
            </a:custGeom>
            <a:solidFill>
              <a:srgbClr val="B896F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29529" cy="721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687456" y="2517614"/>
            <a:ext cx="1177349" cy="5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b="true" sz="3347">
                <a:solidFill>
                  <a:srgbClr val="EFEF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Year4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47599" y="5934713"/>
            <a:ext cx="2993704" cy="162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</a:t>
            </a: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to Uganda, Tanz</a:t>
            </a: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ania &amp; Rwanda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Hospital &amp; insurer billing integrations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100,000+ users, 2,000+ responders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83370" y="3714136"/>
            <a:ext cx="2657934" cy="106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4004" spc="-180" b="true">
                <a:solidFill>
                  <a:srgbClr val="3E11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Regional Growth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4342973" y="2584289"/>
            <a:ext cx="2791902" cy="595810"/>
            <a:chOff x="0" y="0"/>
            <a:chExt cx="635000" cy="13551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" cy="135513"/>
            </a:xfrm>
            <a:custGeom>
              <a:avLst/>
              <a:gdLst/>
              <a:ahLst/>
              <a:cxnLst/>
              <a:rect r="r" b="b" t="t" l="l"/>
              <a:pathLst>
                <a:path h="135513" w="635000">
                  <a:moveTo>
                    <a:pt x="54160" y="0"/>
                  </a:moveTo>
                  <a:lnTo>
                    <a:pt x="580840" y="0"/>
                  </a:lnTo>
                  <a:cubicBezTo>
                    <a:pt x="610752" y="0"/>
                    <a:pt x="635000" y="24248"/>
                    <a:pt x="635000" y="54160"/>
                  </a:cubicBezTo>
                  <a:lnTo>
                    <a:pt x="635000" y="81353"/>
                  </a:lnTo>
                  <a:cubicBezTo>
                    <a:pt x="635000" y="95717"/>
                    <a:pt x="629294" y="109493"/>
                    <a:pt x="619137" y="119650"/>
                  </a:cubicBezTo>
                  <a:cubicBezTo>
                    <a:pt x="608980" y="129807"/>
                    <a:pt x="595204" y="135513"/>
                    <a:pt x="580840" y="135513"/>
                  </a:cubicBezTo>
                  <a:lnTo>
                    <a:pt x="54160" y="135513"/>
                  </a:lnTo>
                  <a:cubicBezTo>
                    <a:pt x="24248" y="135513"/>
                    <a:pt x="0" y="111265"/>
                    <a:pt x="0" y="81353"/>
                  </a:cubicBezTo>
                  <a:lnTo>
                    <a:pt x="0" y="54160"/>
                  </a:lnTo>
                  <a:cubicBezTo>
                    <a:pt x="0" y="24248"/>
                    <a:pt x="24248" y="0"/>
                    <a:pt x="54160" y="0"/>
                  </a:cubicBezTo>
                  <a:close/>
                </a:path>
              </a:pathLst>
            </a:custGeom>
            <a:solidFill>
              <a:srgbClr val="3E115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35000" cy="13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65829" y="5242174"/>
            <a:ext cx="3207517" cy="3172624"/>
            <a:chOff x="0" y="0"/>
            <a:chExt cx="729529" cy="7215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9529" cy="721593"/>
            </a:xfrm>
            <a:custGeom>
              <a:avLst/>
              <a:gdLst/>
              <a:ahLst/>
              <a:cxnLst/>
              <a:rect r="r" b="b" t="t" l="l"/>
              <a:pathLst>
                <a:path h="721593" w="729529">
                  <a:moveTo>
                    <a:pt x="47142" y="0"/>
                  </a:moveTo>
                  <a:lnTo>
                    <a:pt x="682387" y="0"/>
                  </a:lnTo>
                  <a:cubicBezTo>
                    <a:pt x="708423" y="0"/>
                    <a:pt x="729529" y="21106"/>
                    <a:pt x="729529" y="47142"/>
                  </a:cubicBezTo>
                  <a:lnTo>
                    <a:pt x="729529" y="674451"/>
                  </a:lnTo>
                  <a:cubicBezTo>
                    <a:pt x="729529" y="700487"/>
                    <a:pt x="708423" y="721593"/>
                    <a:pt x="682387" y="721593"/>
                  </a:cubicBezTo>
                  <a:lnTo>
                    <a:pt x="47142" y="721593"/>
                  </a:lnTo>
                  <a:cubicBezTo>
                    <a:pt x="21106" y="721593"/>
                    <a:pt x="0" y="700487"/>
                    <a:pt x="0" y="674451"/>
                  </a:cubicBezTo>
                  <a:lnTo>
                    <a:pt x="0" y="47142"/>
                  </a:lnTo>
                  <a:cubicBezTo>
                    <a:pt x="0" y="21106"/>
                    <a:pt x="21106" y="0"/>
                    <a:pt x="47142" y="0"/>
                  </a:cubicBezTo>
                  <a:close/>
                </a:path>
              </a:pathLst>
            </a:custGeom>
            <a:solidFill>
              <a:srgbClr val="B896F8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729529" cy="721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5154612" y="2517614"/>
            <a:ext cx="1168624" cy="5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6"/>
              </a:lnSpc>
            </a:pPr>
            <a:r>
              <a:rPr lang="en-US" b="true" sz="3347">
                <a:solidFill>
                  <a:srgbClr val="EFEF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Year5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10393" y="5934713"/>
            <a:ext cx="2993704" cy="162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eKo</a:t>
            </a: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nnect: East Af</a:t>
            </a: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rica's emergency backbone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SDG impact reporting for government partners </a:t>
            </a:r>
          </a:p>
          <a:p>
            <a:pPr algn="l" marL="330589" indent="-165295" lvl="1">
              <a:lnSpc>
                <a:spcPts val="2143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Raise Series A for continued expansion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678279" y="3661543"/>
            <a:ext cx="2657934" cy="106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4004" spc="-180" b="true">
                <a:solidFill>
                  <a:srgbClr val="3E11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Regional Leader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47233" y="1288421"/>
          <a:ext cx="16344246" cy="8486775"/>
        </p:xfrm>
        <a:graphic>
          <a:graphicData uri="http://schemas.openxmlformats.org/drawingml/2006/table">
            <a:tbl>
              <a:tblPr/>
              <a:tblGrid>
                <a:gridCol w="2352956"/>
                <a:gridCol w="11272722"/>
                <a:gridCol w="2718567"/>
              </a:tblGrid>
              <a:tr h="10237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S/N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Amnt(Ksh)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52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Infrastructure and uptime data storage, Cloud hosting with redundancy, </a:t>
                      </a:r>
                      <a:endParaRPr lang="en-US" sz="1100"/>
                    </a:p>
                    <a:p>
                      <a:pPr algn="l">
                        <a:lnSpc>
                          <a:spcPts val="3219"/>
                        </a:lnSpc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real time services and data backup and disaster recovery. </a:t>
                      </a:r>
                    </a:p>
                    <a:p>
                      <a:pPr algn="l">
                        <a:lnSpc>
                          <a:spcPts val="321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1.7Million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34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Data security and compliance - Licensesfor data, compliance. </a:t>
                      </a:r>
                      <a:endParaRPr lang="en-US" sz="1100"/>
                    </a:p>
                    <a:p>
                      <a:pPr algn="l">
                        <a:lnSpc>
                          <a:spcPts val="321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500,000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34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People and operations -training,Change management </a:t>
                      </a:r>
                      <a:endParaRPr lang="en-US" sz="1100"/>
                    </a:p>
                    <a:p>
                      <a:pPr algn="l">
                        <a:lnSpc>
                          <a:spcPts val="321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500,000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34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Project development; app engineering and integration. </a:t>
                      </a:r>
                      <a:endParaRPr lang="en-US" sz="1100"/>
                    </a:p>
                    <a:p>
                      <a:pPr algn="l">
                        <a:lnSpc>
                          <a:spcPts val="321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2.0 Million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7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Contingency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 Million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7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Total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5.7 Million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47233" y="142875"/>
            <a:ext cx="2077279" cy="114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5"/>
              </a:lnSpc>
            </a:pPr>
            <a:r>
              <a:rPr lang="en-US" sz="8500" spc="-382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Ask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24512" y="230845"/>
            <a:ext cx="3228824" cy="96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1"/>
              </a:lnSpc>
              <a:spcBef>
                <a:spcPct val="0"/>
              </a:spcBef>
            </a:pPr>
            <a:r>
              <a:rPr lang="en-US" b="true" sz="6301" spc="-378">
                <a:solidFill>
                  <a:srgbClr val="3E115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KSH 5.7M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1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236213" y="1695040"/>
            <a:ext cx="8031630" cy="8350463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584050" y="3552278"/>
            <a:ext cx="4424863" cy="2564425"/>
            <a:chOff x="0" y="0"/>
            <a:chExt cx="723148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3148" cy="419100"/>
            </a:xfrm>
            <a:custGeom>
              <a:avLst/>
              <a:gdLst/>
              <a:ahLst/>
              <a:cxnLst/>
              <a:rect r="r" b="b" t="t" l="l"/>
              <a:pathLst>
                <a:path h="419100" w="723148">
                  <a:moveTo>
                    <a:pt x="34173" y="0"/>
                  </a:moveTo>
                  <a:lnTo>
                    <a:pt x="688976" y="0"/>
                  </a:lnTo>
                  <a:cubicBezTo>
                    <a:pt x="698039" y="0"/>
                    <a:pt x="706731" y="3600"/>
                    <a:pt x="713139" y="10009"/>
                  </a:cubicBezTo>
                  <a:cubicBezTo>
                    <a:pt x="719548" y="16418"/>
                    <a:pt x="723148" y="25110"/>
                    <a:pt x="723148" y="34173"/>
                  </a:cubicBezTo>
                  <a:lnTo>
                    <a:pt x="723148" y="384927"/>
                  </a:lnTo>
                  <a:cubicBezTo>
                    <a:pt x="723148" y="403800"/>
                    <a:pt x="707849" y="419100"/>
                    <a:pt x="688976" y="419100"/>
                  </a:cubicBezTo>
                  <a:lnTo>
                    <a:pt x="34173" y="419100"/>
                  </a:lnTo>
                  <a:cubicBezTo>
                    <a:pt x="15300" y="419100"/>
                    <a:pt x="0" y="403800"/>
                    <a:pt x="0" y="384927"/>
                  </a:cubicBezTo>
                  <a:lnTo>
                    <a:pt x="0" y="34173"/>
                  </a:lnTo>
                  <a:cubicBezTo>
                    <a:pt x="0" y="15300"/>
                    <a:pt x="15300" y="0"/>
                    <a:pt x="341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72314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4050" y="611257"/>
            <a:ext cx="8849726" cy="104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3"/>
              </a:lnSpc>
            </a:pPr>
            <a:r>
              <a:rPr lang="en-US" b="true" sz="7682" spc="-34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Expected Outcome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65031" y="1394640"/>
            <a:ext cx="4923264" cy="58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2"/>
              </a:lnSpc>
            </a:pPr>
            <a:r>
              <a:rPr lang="en-US" sz="4273" spc="-192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Financial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37539" y="2624005"/>
            <a:ext cx="1942746" cy="58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2"/>
              </a:lnSpc>
            </a:pPr>
            <a:r>
              <a:rPr lang="en-US" sz="4273" spc="-192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5746" y="4101066"/>
            <a:ext cx="4261470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6"/>
              </a:lnSpc>
              <a:spcBef>
                <a:spcPct val="0"/>
              </a:spcBef>
            </a:pPr>
            <a:r>
              <a:rPr lang="en-US" b="true" sz="5138" spc="-308">
                <a:solidFill>
                  <a:srgbClr val="0F042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&lt;20 min </a:t>
            </a:r>
          </a:p>
          <a:p>
            <a:pPr algn="ctr">
              <a:lnSpc>
                <a:spcPts val="2686"/>
              </a:lnSpc>
              <a:spcBef>
                <a:spcPct val="0"/>
              </a:spcBef>
            </a:pPr>
            <a:r>
              <a:rPr lang="en-US" sz="2238" spc="-134">
                <a:solidFill>
                  <a:srgbClr val="0F042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average emergency response time (SDG 3 — Good Health &amp; Well-Being)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44638" y="3551547"/>
            <a:ext cx="4424863" cy="2564425"/>
            <a:chOff x="0" y="0"/>
            <a:chExt cx="723148" cy="419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3148" cy="419100"/>
            </a:xfrm>
            <a:custGeom>
              <a:avLst/>
              <a:gdLst/>
              <a:ahLst/>
              <a:cxnLst/>
              <a:rect r="r" b="b" t="t" l="l"/>
              <a:pathLst>
                <a:path h="419100" w="723148">
                  <a:moveTo>
                    <a:pt x="34173" y="0"/>
                  </a:moveTo>
                  <a:lnTo>
                    <a:pt x="688976" y="0"/>
                  </a:lnTo>
                  <a:cubicBezTo>
                    <a:pt x="698039" y="0"/>
                    <a:pt x="706731" y="3600"/>
                    <a:pt x="713139" y="10009"/>
                  </a:cubicBezTo>
                  <a:cubicBezTo>
                    <a:pt x="719548" y="16418"/>
                    <a:pt x="723148" y="25110"/>
                    <a:pt x="723148" y="34173"/>
                  </a:cubicBezTo>
                  <a:lnTo>
                    <a:pt x="723148" y="384927"/>
                  </a:lnTo>
                  <a:cubicBezTo>
                    <a:pt x="723148" y="403800"/>
                    <a:pt x="707849" y="419100"/>
                    <a:pt x="688976" y="419100"/>
                  </a:cubicBezTo>
                  <a:lnTo>
                    <a:pt x="34173" y="419100"/>
                  </a:lnTo>
                  <a:cubicBezTo>
                    <a:pt x="15300" y="419100"/>
                    <a:pt x="0" y="403800"/>
                    <a:pt x="0" y="384927"/>
                  </a:cubicBezTo>
                  <a:lnTo>
                    <a:pt x="0" y="34173"/>
                  </a:lnTo>
                  <a:cubicBezTo>
                    <a:pt x="0" y="15300"/>
                    <a:pt x="15300" y="0"/>
                    <a:pt x="341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2314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362501" y="3781247"/>
            <a:ext cx="4189138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6"/>
              </a:lnSpc>
              <a:spcBef>
                <a:spcPct val="0"/>
              </a:spcBef>
            </a:pPr>
            <a:r>
              <a:rPr lang="en-US" b="true" sz="4938" spc="-296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3,500+ </a:t>
            </a:r>
          </a:p>
          <a:p>
            <a:pPr algn="ctr">
              <a:lnSpc>
                <a:spcPts val="2686"/>
              </a:lnSpc>
              <a:spcBef>
                <a:spcPct val="0"/>
              </a:spcBef>
            </a:pPr>
            <a:r>
              <a:rPr lang="en-US" sz="2238" spc="-134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verified ambulances and practitioners on the network (SDG 9 — Industry, Innovation &amp; Infrastructure)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264942" y="6954172"/>
            <a:ext cx="4785179" cy="2773246"/>
            <a:chOff x="0" y="0"/>
            <a:chExt cx="723148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3148" cy="419100"/>
            </a:xfrm>
            <a:custGeom>
              <a:avLst/>
              <a:gdLst/>
              <a:ahLst/>
              <a:cxnLst/>
              <a:rect r="r" b="b" t="t" l="l"/>
              <a:pathLst>
                <a:path h="419100" w="723148">
                  <a:moveTo>
                    <a:pt x="31600" y="0"/>
                  </a:moveTo>
                  <a:lnTo>
                    <a:pt x="691549" y="0"/>
                  </a:lnTo>
                  <a:cubicBezTo>
                    <a:pt x="699930" y="0"/>
                    <a:pt x="707967" y="3329"/>
                    <a:pt x="713893" y="9255"/>
                  </a:cubicBezTo>
                  <a:cubicBezTo>
                    <a:pt x="719819" y="15181"/>
                    <a:pt x="723148" y="23219"/>
                    <a:pt x="723148" y="31600"/>
                  </a:cubicBezTo>
                  <a:lnTo>
                    <a:pt x="723148" y="387500"/>
                  </a:lnTo>
                  <a:cubicBezTo>
                    <a:pt x="723148" y="395881"/>
                    <a:pt x="719819" y="403919"/>
                    <a:pt x="713893" y="409845"/>
                  </a:cubicBezTo>
                  <a:cubicBezTo>
                    <a:pt x="707967" y="415771"/>
                    <a:pt x="699930" y="419100"/>
                    <a:pt x="691549" y="419100"/>
                  </a:cubicBezTo>
                  <a:lnTo>
                    <a:pt x="31600" y="419100"/>
                  </a:lnTo>
                  <a:cubicBezTo>
                    <a:pt x="23219" y="419100"/>
                    <a:pt x="15181" y="415771"/>
                    <a:pt x="9255" y="409845"/>
                  </a:cubicBezTo>
                  <a:cubicBezTo>
                    <a:pt x="3329" y="403919"/>
                    <a:pt x="0" y="395881"/>
                    <a:pt x="0" y="387500"/>
                  </a:cubicBezTo>
                  <a:lnTo>
                    <a:pt x="0" y="31600"/>
                  </a:lnTo>
                  <a:cubicBezTo>
                    <a:pt x="0" y="23219"/>
                    <a:pt x="3329" y="15181"/>
                    <a:pt x="9255" y="9255"/>
                  </a:cubicBezTo>
                  <a:cubicBezTo>
                    <a:pt x="15181" y="3329"/>
                    <a:pt x="23219" y="0"/>
                    <a:pt x="31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23148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678021" y="7133125"/>
            <a:ext cx="395902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b="true" sz="5100" spc="-305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250,000+ </a:t>
            </a:r>
          </a:p>
          <a:p>
            <a:pPr algn="ctr">
              <a:lnSpc>
                <a:spcPts val="2686"/>
              </a:lnSpc>
              <a:spcBef>
                <a:spcPct val="0"/>
              </a:spcBef>
            </a:pPr>
            <a:r>
              <a:rPr lang="en-US" sz="2238" spc="-134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citizens covered by the public safety net, across 4 countries (SDG 11 — Sustainable Cities &amp; Communities)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34659" y="2304884"/>
            <a:ext cx="3086100" cy="5079195"/>
            <a:chOff x="0" y="0"/>
            <a:chExt cx="812800" cy="13377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337730"/>
            </a:xfrm>
            <a:custGeom>
              <a:avLst/>
              <a:gdLst/>
              <a:ahLst/>
              <a:cxnLst/>
              <a:rect r="r" b="b" t="t" l="l"/>
              <a:pathLst>
                <a:path h="133773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37730"/>
                  </a:lnTo>
                  <a:lnTo>
                    <a:pt x="0" y="1337730"/>
                  </a:lnTo>
                  <a:close/>
                </a:path>
              </a:pathLst>
            </a:custGeom>
            <a:gradFill rotWithShape="true">
              <a:gsLst>
                <a:gs pos="0">
                  <a:srgbClr val="EFEFEF">
                    <a:alpha val="0"/>
                  </a:srgbClr>
                </a:gs>
                <a:gs pos="50000">
                  <a:srgbClr val="EFEFEF">
                    <a:alpha val="895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812800" cy="1328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12643"/>
            <a:ext cx="18674901" cy="10879011"/>
            <a:chOff x="0" y="0"/>
            <a:chExt cx="24899868" cy="1450534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6528652"/>
              <a:ext cx="3558057" cy="7976696"/>
              <a:chOff x="0" y="0"/>
              <a:chExt cx="812800" cy="182219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1822191"/>
              </a:xfrm>
              <a:custGeom>
                <a:avLst/>
                <a:gdLst/>
                <a:ahLst/>
                <a:cxnLst/>
                <a:rect r="r" b="b" t="t" l="l"/>
                <a:pathLst>
                  <a:path h="182219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22191"/>
                    </a:lnTo>
                    <a:lnTo>
                      <a:pt x="0" y="182219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812800" cy="18221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1341811" y="6528652"/>
              <a:ext cx="3558057" cy="7976696"/>
              <a:chOff x="0" y="0"/>
              <a:chExt cx="812800" cy="18221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822191"/>
              </a:xfrm>
              <a:custGeom>
                <a:avLst/>
                <a:gdLst/>
                <a:ahLst/>
                <a:cxnLst/>
                <a:rect r="r" b="b" t="t" l="l"/>
                <a:pathLst>
                  <a:path h="182219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22191"/>
                    </a:lnTo>
                    <a:lnTo>
                      <a:pt x="0" y="182219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812800" cy="18221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558057" y="4716554"/>
              <a:ext cx="3558057" cy="9788794"/>
              <a:chOff x="0" y="0"/>
              <a:chExt cx="812800" cy="223614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236145"/>
              </a:xfrm>
              <a:custGeom>
                <a:avLst/>
                <a:gdLst/>
                <a:ahLst/>
                <a:cxnLst/>
                <a:rect r="r" b="b" t="t" l="l"/>
                <a:pathLst>
                  <a:path h="223614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36145"/>
                    </a:lnTo>
                    <a:lnTo>
                      <a:pt x="0" y="22361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812800" cy="22361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783754" y="4716554"/>
              <a:ext cx="3558057" cy="9788794"/>
              <a:chOff x="0" y="0"/>
              <a:chExt cx="812800" cy="223614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236145"/>
              </a:xfrm>
              <a:custGeom>
                <a:avLst/>
                <a:gdLst/>
                <a:ahLst/>
                <a:cxnLst/>
                <a:rect r="r" b="b" t="t" l="l"/>
                <a:pathLst>
                  <a:path h="2236145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36145"/>
                    </a:lnTo>
                    <a:lnTo>
                      <a:pt x="0" y="223614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812800" cy="22361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7116114" y="2763407"/>
              <a:ext cx="3558057" cy="11741941"/>
              <a:chOff x="0" y="0"/>
              <a:chExt cx="812800" cy="268232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2682321"/>
              </a:xfrm>
              <a:custGeom>
                <a:avLst/>
                <a:gdLst/>
                <a:ahLst/>
                <a:cxnLst/>
                <a:rect r="r" b="b" t="t" l="l"/>
                <a:pathLst>
                  <a:path h="268232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682321"/>
                    </a:lnTo>
                    <a:lnTo>
                      <a:pt x="0" y="268232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268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232228" y="2763407"/>
              <a:ext cx="3558057" cy="11741941"/>
              <a:chOff x="0" y="0"/>
              <a:chExt cx="812800" cy="268232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682321"/>
              </a:xfrm>
              <a:custGeom>
                <a:avLst/>
                <a:gdLst/>
                <a:ahLst/>
                <a:cxnLst/>
                <a:rect r="r" b="b" t="t" l="l"/>
                <a:pathLst>
                  <a:path h="268232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682321"/>
                    </a:lnTo>
                    <a:lnTo>
                      <a:pt x="0" y="268232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2682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674171" y="0"/>
              <a:ext cx="3558057" cy="14505348"/>
              <a:chOff x="0" y="0"/>
              <a:chExt cx="812800" cy="331359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3313591"/>
              </a:xfrm>
              <a:custGeom>
                <a:avLst/>
                <a:gdLst/>
                <a:ahLst/>
                <a:cxnLst/>
                <a:rect r="r" b="b" t="t" l="l"/>
                <a:pathLst>
                  <a:path h="331359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313591"/>
                    </a:lnTo>
                    <a:lnTo>
                      <a:pt x="0" y="331359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12800" cy="3313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2017421" y="2304884"/>
            <a:ext cx="5321568" cy="5079195"/>
            <a:chOff x="0" y="0"/>
            <a:chExt cx="1401565" cy="13377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01565" cy="1337730"/>
            </a:xfrm>
            <a:custGeom>
              <a:avLst/>
              <a:gdLst/>
              <a:ahLst/>
              <a:cxnLst/>
              <a:rect r="r" b="b" t="t" l="l"/>
              <a:pathLst>
                <a:path h="1337730" w="1401565">
                  <a:moveTo>
                    <a:pt x="49464" y="0"/>
                  </a:moveTo>
                  <a:lnTo>
                    <a:pt x="1352101" y="0"/>
                  </a:lnTo>
                  <a:cubicBezTo>
                    <a:pt x="1379419" y="0"/>
                    <a:pt x="1401565" y="22146"/>
                    <a:pt x="1401565" y="49464"/>
                  </a:cubicBezTo>
                  <a:lnTo>
                    <a:pt x="1401565" y="1288267"/>
                  </a:lnTo>
                  <a:cubicBezTo>
                    <a:pt x="1401565" y="1315585"/>
                    <a:pt x="1379419" y="1337730"/>
                    <a:pt x="1352101" y="1337730"/>
                  </a:cubicBezTo>
                  <a:lnTo>
                    <a:pt x="49464" y="1337730"/>
                  </a:lnTo>
                  <a:cubicBezTo>
                    <a:pt x="22146" y="1337730"/>
                    <a:pt x="0" y="1315585"/>
                    <a:pt x="0" y="1288267"/>
                  </a:cubicBezTo>
                  <a:lnTo>
                    <a:pt x="0" y="49464"/>
                  </a:lnTo>
                  <a:cubicBezTo>
                    <a:pt x="0" y="22146"/>
                    <a:pt x="22146" y="0"/>
                    <a:pt x="494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E1152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401565" cy="1328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17421" y="2254328"/>
            <a:ext cx="5263596" cy="3722160"/>
            <a:chOff x="0" y="0"/>
            <a:chExt cx="710262" cy="5022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0262" cy="502263"/>
            </a:xfrm>
            <a:custGeom>
              <a:avLst/>
              <a:gdLst/>
              <a:ahLst/>
              <a:cxnLst/>
              <a:rect r="r" b="b" t="t" l="l"/>
              <a:pathLst>
                <a:path h="502263" w="710262">
                  <a:moveTo>
                    <a:pt x="52950" y="0"/>
                  </a:moveTo>
                  <a:lnTo>
                    <a:pt x="657312" y="0"/>
                  </a:lnTo>
                  <a:cubicBezTo>
                    <a:pt x="686555" y="0"/>
                    <a:pt x="710262" y="23707"/>
                    <a:pt x="710262" y="52950"/>
                  </a:cubicBezTo>
                  <a:lnTo>
                    <a:pt x="710262" y="449313"/>
                  </a:lnTo>
                  <a:cubicBezTo>
                    <a:pt x="710262" y="463356"/>
                    <a:pt x="704683" y="476824"/>
                    <a:pt x="694753" y="486754"/>
                  </a:cubicBezTo>
                  <a:cubicBezTo>
                    <a:pt x="684823" y="496684"/>
                    <a:pt x="671355" y="502263"/>
                    <a:pt x="657312" y="502263"/>
                  </a:cubicBezTo>
                  <a:lnTo>
                    <a:pt x="52950" y="502263"/>
                  </a:lnTo>
                  <a:cubicBezTo>
                    <a:pt x="38907" y="502263"/>
                    <a:pt x="25439" y="496684"/>
                    <a:pt x="15509" y="486754"/>
                  </a:cubicBezTo>
                  <a:cubicBezTo>
                    <a:pt x="5579" y="476824"/>
                    <a:pt x="0" y="463356"/>
                    <a:pt x="0" y="449313"/>
                  </a:cubicBezTo>
                  <a:lnTo>
                    <a:pt x="0" y="52950"/>
                  </a:lnTo>
                  <a:cubicBezTo>
                    <a:pt x="0" y="38907"/>
                    <a:pt x="5579" y="25439"/>
                    <a:pt x="15509" y="15509"/>
                  </a:cubicBezTo>
                  <a:cubicBezTo>
                    <a:pt x="25439" y="5579"/>
                    <a:pt x="38907" y="0"/>
                    <a:pt x="52950" y="0"/>
                  </a:cubicBezTo>
                  <a:close/>
                </a:path>
              </a:pathLst>
            </a:custGeom>
            <a:blipFill>
              <a:blip r:embed="rId2"/>
              <a:stretch>
                <a:fillRect l="-7046" t="0" r="0" b="-51376"/>
              </a:stretch>
            </a:blipFill>
            <a:ln w="9525" cap="rnd">
              <a:solidFill>
                <a:srgbClr val="3E1152"/>
              </a:solidFill>
              <a:prstDash val="solid"/>
              <a:round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335912" y="2304884"/>
            <a:ext cx="5321568" cy="5079195"/>
            <a:chOff x="0" y="0"/>
            <a:chExt cx="1401565" cy="13377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01565" cy="1337730"/>
            </a:xfrm>
            <a:custGeom>
              <a:avLst/>
              <a:gdLst/>
              <a:ahLst/>
              <a:cxnLst/>
              <a:rect r="r" b="b" t="t" l="l"/>
              <a:pathLst>
                <a:path h="1337730" w="1401565">
                  <a:moveTo>
                    <a:pt x="49464" y="0"/>
                  </a:moveTo>
                  <a:lnTo>
                    <a:pt x="1352101" y="0"/>
                  </a:lnTo>
                  <a:cubicBezTo>
                    <a:pt x="1379419" y="0"/>
                    <a:pt x="1401565" y="22146"/>
                    <a:pt x="1401565" y="49464"/>
                  </a:cubicBezTo>
                  <a:lnTo>
                    <a:pt x="1401565" y="1288267"/>
                  </a:lnTo>
                  <a:cubicBezTo>
                    <a:pt x="1401565" y="1315585"/>
                    <a:pt x="1379419" y="1337730"/>
                    <a:pt x="1352101" y="1337730"/>
                  </a:cubicBezTo>
                  <a:lnTo>
                    <a:pt x="49464" y="1337730"/>
                  </a:lnTo>
                  <a:cubicBezTo>
                    <a:pt x="22146" y="1337730"/>
                    <a:pt x="0" y="1315585"/>
                    <a:pt x="0" y="1288267"/>
                  </a:cubicBezTo>
                  <a:lnTo>
                    <a:pt x="0" y="49464"/>
                  </a:lnTo>
                  <a:cubicBezTo>
                    <a:pt x="0" y="22146"/>
                    <a:pt x="22146" y="0"/>
                    <a:pt x="494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E1152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1401565" cy="1328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023003" y="2254328"/>
            <a:ext cx="5634476" cy="3722160"/>
            <a:chOff x="0" y="0"/>
            <a:chExt cx="760308" cy="5022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0308" cy="502263"/>
            </a:xfrm>
            <a:custGeom>
              <a:avLst/>
              <a:gdLst/>
              <a:ahLst/>
              <a:cxnLst/>
              <a:rect r="r" b="b" t="t" l="l"/>
              <a:pathLst>
                <a:path h="502263" w="760308">
                  <a:moveTo>
                    <a:pt x="49465" y="0"/>
                  </a:moveTo>
                  <a:lnTo>
                    <a:pt x="710843" y="0"/>
                  </a:lnTo>
                  <a:cubicBezTo>
                    <a:pt x="738162" y="0"/>
                    <a:pt x="760308" y="22146"/>
                    <a:pt x="760308" y="49465"/>
                  </a:cubicBezTo>
                  <a:lnTo>
                    <a:pt x="760308" y="452798"/>
                  </a:lnTo>
                  <a:cubicBezTo>
                    <a:pt x="760308" y="480117"/>
                    <a:pt x="738162" y="502263"/>
                    <a:pt x="710843" y="502263"/>
                  </a:cubicBezTo>
                  <a:lnTo>
                    <a:pt x="49465" y="502263"/>
                  </a:lnTo>
                  <a:cubicBezTo>
                    <a:pt x="22146" y="502263"/>
                    <a:pt x="0" y="480117"/>
                    <a:pt x="0" y="452798"/>
                  </a:cubicBezTo>
                  <a:lnTo>
                    <a:pt x="0" y="49465"/>
                  </a:lnTo>
                  <a:cubicBezTo>
                    <a:pt x="0" y="22146"/>
                    <a:pt x="22146" y="0"/>
                    <a:pt x="4946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7887" r="0" b="-81548"/>
              </a:stretch>
            </a:blipFill>
            <a:ln w="9525" cap="rnd">
              <a:solidFill>
                <a:srgbClr val="3E1152"/>
              </a:solidFill>
              <a:prstDash val="solid"/>
              <a:round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33291" y="1947055"/>
            <a:ext cx="5008319" cy="5685797"/>
            <a:chOff x="0" y="0"/>
            <a:chExt cx="675815" cy="76723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5815" cy="767233"/>
            </a:xfrm>
            <a:custGeom>
              <a:avLst/>
              <a:gdLst/>
              <a:ahLst/>
              <a:cxnLst/>
              <a:rect r="r" b="b" t="t" l="l"/>
              <a:pathLst>
                <a:path h="767233" w="675815">
                  <a:moveTo>
                    <a:pt x="55649" y="0"/>
                  </a:moveTo>
                  <a:lnTo>
                    <a:pt x="620166" y="0"/>
                  </a:lnTo>
                  <a:cubicBezTo>
                    <a:pt x="650900" y="0"/>
                    <a:pt x="675815" y="24915"/>
                    <a:pt x="675815" y="55649"/>
                  </a:cubicBezTo>
                  <a:lnTo>
                    <a:pt x="675815" y="711584"/>
                  </a:lnTo>
                  <a:cubicBezTo>
                    <a:pt x="675815" y="742318"/>
                    <a:pt x="650900" y="767233"/>
                    <a:pt x="620166" y="767233"/>
                  </a:cubicBezTo>
                  <a:lnTo>
                    <a:pt x="55649" y="767233"/>
                  </a:lnTo>
                  <a:cubicBezTo>
                    <a:pt x="24915" y="767233"/>
                    <a:pt x="0" y="742318"/>
                    <a:pt x="0" y="711584"/>
                  </a:cubicBezTo>
                  <a:lnTo>
                    <a:pt x="0" y="55649"/>
                  </a:lnTo>
                  <a:cubicBezTo>
                    <a:pt x="0" y="24915"/>
                    <a:pt x="24915" y="0"/>
                    <a:pt x="5564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723" r="0" b="-8723"/>
              </a:stretch>
            </a:blipFill>
            <a:ln w="9525" cap="rnd">
              <a:solidFill>
                <a:srgbClr val="3E1152"/>
              </a:solidFill>
              <a:prstDash val="solid"/>
              <a:round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591569" y="215492"/>
            <a:ext cx="8115300" cy="130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8"/>
              </a:lnSpc>
            </a:pPr>
            <a:r>
              <a:rPr lang="en-US" sz="9600" spc="-432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Our Team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8451" y="6283059"/>
            <a:ext cx="3787388" cy="42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3148" spc="-141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Januaris Kibet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39205" y="6283059"/>
            <a:ext cx="4090547" cy="46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1"/>
              </a:lnSpc>
            </a:pPr>
            <a:r>
              <a:rPr lang="en-US" b="true" sz="3399" spc="-152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John Kyalo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88451" y="6733337"/>
            <a:ext cx="14497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</a:pPr>
            <a:r>
              <a:rPr lang="en-US" sz="1599" i="true" spc="-51">
                <a:solidFill>
                  <a:srgbClr val="696969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PARAMEDIC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51971" y="6851765"/>
            <a:ext cx="4065016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</a:pPr>
            <a:r>
              <a:rPr lang="en-US" sz="1599" i="true" spc="-51">
                <a:solidFill>
                  <a:srgbClr val="696969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PARAMEDIC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833291" y="7799970"/>
            <a:ext cx="5008319" cy="977967"/>
            <a:chOff x="0" y="0"/>
            <a:chExt cx="1319063" cy="2575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19063" cy="257572"/>
            </a:xfrm>
            <a:custGeom>
              <a:avLst/>
              <a:gdLst/>
              <a:ahLst/>
              <a:cxnLst/>
              <a:rect r="r" b="b" t="t" l="l"/>
              <a:pathLst>
                <a:path h="257572" w="1319063">
                  <a:moveTo>
                    <a:pt x="52558" y="0"/>
                  </a:moveTo>
                  <a:lnTo>
                    <a:pt x="1266506" y="0"/>
                  </a:lnTo>
                  <a:cubicBezTo>
                    <a:pt x="1295533" y="0"/>
                    <a:pt x="1319063" y="23531"/>
                    <a:pt x="1319063" y="52558"/>
                  </a:cubicBezTo>
                  <a:lnTo>
                    <a:pt x="1319063" y="205014"/>
                  </a:lnTo>
                  <a:cubicBezTo>
                    <a:pt x="1319063" y="234041"/>
                    <a:pt x="1295533" y="257572"/>
                    <a:pt x="1266506" y="257572"/>
                  </a:cubicBezTo>
                  <a:lnTo>
                    <a:pt x="52558" y="257572"/>
                  </a:lnTo>
                  <a:cubicBezTo>
                    <a:pt x="23531" y="257572"/>
                    <a:pt x="0" y="234041"/>
                    <a:pt x="0" y="205014"/>
                  </a:cubicBezTo>
                  <a:lnTo>
                    <a:pt x="0" y="52558"/>
                  </a:lnTo>
                  <a:cubicBezTo>
                    <a:pt x="0" y="23531"/>
                    <a:pt x="23531" y="0"/>
                    <a:pt x="525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E1152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1319063" cy="248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920759" y="7917479"/>
            <a:ext cx="315812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  <a:spcBef>
                <a:spcPct val="0"/>
              </a:spcBef>
            </a:pPr>
            <a:r>
              <a:rPr lang="en-US" b="true" sz="2538" spc="-15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MilkahAlbert</a:t>
            </a:r>
          </a:p>
          <a:p>
            <a:pPr algn="ctr">
              <a:lnSpc>
                <a:spcPts val="3046"/>
              </a:lnSpc>
              <a:spcBef>
                <a:spcPct val="0"/>
              </a:spcBef>
            </a:pPr>
            <a:r>
              <a:rPr lang="en-US" b="true" sz="2538" spc="-15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healthcare provider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57227" y="8286474"/>
            <a:ext cx="7649836" cy="173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320" spc="-149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Support </a:t>
            </a:r>
          </a:p>
          <a:p>
            <a:pPr algn="l">
              <a:lnSpc>
                <a:spcPts val="3419"/>
              </a:lnSpc>
            </a:pPr>
          </a:p>
          <a:p>
            <a:pPr algn="l">
              <a:lnSpc>
                <a:spcPts val="3419"/>
              </a:lnSpc>
            </a:pPr>
            <a:r>
              <a:rPr lang="en-US" sz="3320" spc="-149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Dr Tecla Sum -  Supervisor</a:t>
            </a:r>
          </a:p>
          <a:p>
            <a:pPr algn="l">
              <a:lnSpc>
                <a:spcPts val="3419"/>
              </a:lnSpc>
            </a:pPr>
            <a:r>
              <a:rPr lang="en-US" sz="3320" spc="-149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Benard Phabian - Software Designer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DAHRmsNqhLI</dc:identifier>
  <dcterms:modified xsi:type="dcterms:W3CDTF">2011-08-01T06:04:30Z</dcterms:modified>
  <cp:revision>1</cp:revision>
  <dc:title>Purple and White Modern Startup Pitch Deck Presentation</dc:title>
</cp:coreProperties>
</file>